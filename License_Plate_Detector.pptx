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8" r:id="rId1"/>
  </p:sldMasterIdLst>
  <p:sldIdLst>
    <p:sldId id="256" r:id="rId2"/>
    <p:sldId id="272" r:id="rId3"/>
    <p:sldId id="257" r:id="rId4"/>
    <p:sldId id="258" r:id="rId5"/>
    <p:sldId id="273" r:id="rId6"/>
    <p:sldId id="259" r:id="rId7"/>
    <p:sldId id="275" r:id="rId8"/>
    <p:sldId id="260" r:id="rId9"/>
    <p:sldId id="268" r:id="rId10"/>
    <p:sldId id="269" r:id="rId11"/>
    <p:sldId id="270" r:id="rId12"/>
    <p:sldId id="271" r:id="rId13"/>
    <p:sldId id="263" r:id="rId14"/>
    <p:sldId id="266" r:id="rId15"/>
    <p:sldId id="267" r:id="rId16"/>
    <p:sldId id="274"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9" autoAdjust="0"/>
  </p:normalViewPr>
  <p:slideViewPr>
    <p:cSldViewPr snapToGrid="0" snapToObjects="1">
      <p:cViewPr varScale="1">
        <p:scale>
          <a:sx n="78" d="100"/>
          <a:sy n="78" d="100"/>
        </p:scale>
        <p:origin x="15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9804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357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5318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77834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0137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3406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9068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5385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86408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4505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0325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452290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7520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0939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6104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4131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934480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9211393"/>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1AA87339-A409-C3DF-EB13-DD4CD6AF4EA7}"/>
              </a:ext>
            </a:extLst>
          </p:cNvPr>
          <p:cNvSpPr>
            <a:spLocks noGrp="1"/>
          </p:cNvSpPr>
          <p:nvPr/>
        </p:nvSpPr>
        <p:spPr>
          <a:xfrm>
            <a:off x="1567546" y="442772"/>
            <a:ext cx="8778787" cy="13221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Alegreya Sans Medium"/>
              <a:buNone/>
              <a:defRPr sz="1600" b="0" i="0" u="none" strike="noStrike" cap="none">
                <a:solidFill>
                  <a:schemeClr val="dk1"/>
                </a:solidFill>
                <a:latin typeface="Alegreya Sans Medium"/>
                <a:ea typeface="Alegreya Sans Medium"/>
                <a:cs typeface="Alegreya Sans Medium"/>
                <a:sym typeface="Alegreya Sans Medium"/>
              </a:defRPr>
            </a:lvl1pPr>
            <a:lvl2pPr marL="914400" marR="0" lvl="1"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2pPr>
            <a:lvl3pPr marL="1371600" marR="0" lvl="2"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3pPr>
            <a:lvl4pPr marL="1828800" marR="0" lvl="3"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4pPr>
            <a:lvl5pPr marL="2286000" marR="0" lvl="4"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5pPr>
            <a:lvl6pPr marL="2743200" marR="0" lvl="5"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6pPr>
            <a:lvl7pPr marL="3200400" marR="0" lvl="6"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7pPr>
            <a:lvl8pPr marL="3657600" marR="0" lvl="7"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8pPr>
            <a:lvl9pPr marL="4114800" marR="0" lvl="8" indent="-304800" algn="ctr" rtl="0">
              <a:lnSpc>
                <a:spcPct val="100000"/>
              </a:lnSpc>
              <a:spcBef>
                <a:spcPts val="0"/>
              </a:spcBef>
              <a:spcAft>
                <a:spcPts val="0"/>
              </a:spcAft>
              <a:buClr>
                <a:schemeClr val="dk1"/>
              </a:buClr>
              <a:buSzPts val="1800"/>
              <a:buFont typeface="Alegreya Sans Medium"/>
              <a:buNone/>
              <a:defRPr sz="1800" b="0" i="0" u="none" strike="noStrike" cap="none">
                <a:solidFill>
                  <a:schemeClr val="dk1"/>
                </a:solidFill>
                <a:latin typeface="Alegreya Sans Medium"/>
                <a:ea typeface="Alegreya Sans Medium"/>
                <a:cs typeface="Alegreya Sans Medium"/>
                <a:sym typeface="Alegreya Sans Medium"/>
              </a:defRPr>
            </a:lvl9pPr>
          </a:lstStyle>
          <a:p>
            <a:pPr algn="just"/>
            <a:r>
              <a:rPr lang="en-US" sz="3200" b="1" dirty="0">
                <a:solidFill>
                  <a:schemeClr val="tx2">
                    <a:lumMod val="10000"/>
                  </a:schemeClr>
                </a:solidFill>
                <a:latin typeface="Times New Roman" panose="02020603050405020304" pitchFamily="18" charset="0"/>
                <a:cs typeface="Times New Roman" panose="02020603050405020304" pitchFamily="18" charset="0"/>
              </a:rPr>
              <a:t>Rajeev Institute of Technology,</a:t>
            </a:r>
          </a:p>
          <a:p>
            <a:pPr algn="just"/>
            <a:r>
              <a:rPr lang="en-US" sz="3200" b="1" dirty="0">
                <a:solidFill>
                  <a:schemeClr val="tx2">
                    <a:lumMod val="10000"/>
                  </a:schemeClr>
                </a:solidFill>
                <a:latin typeface="Times New Roman" panose="02020603050405020304" pitchFamily="18" charset="0"/>
                <a:cs typeface="Times New Roman" panose="02020603050405020304" pitchFamily="18" charset="0"/>
              </a:rPr>
              <a:t>                    Hassan.</a:t>
            </a:r>
            <a:endParaRPr lang="en-IN" sz="3200" b="1" dirty="0">
              <a:solidFill>
                <a:schemeClr val="tx2">
                  <a:lumMod val="10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D045251-4EC5-6EDB-AFB8-81F683E0E9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0501" y="410725"/>
            <a:ext cx="1486266" cy="1089497"/>
          </a:xfrm>
          <a:prstGeom prst="rect">
            <a:avLst/>
          </a:prstGeom>
        </p:spPr>
      </p:pic>
      <p:sp>
        <p:nvSpPr>
          <p:cNvPr id="7" name="Rectangle 6">
            <a:extLst>
              <a:ext uri="{FF2B5EF4-FFF2-40B4-BE49-F238E27FC236}">
                <a16:creationId xmlns:a16="http://schemas.microsoft.com/office/drawing/2014/main" id="{6EEAA6D5-EC60-560F-CD3B-3CCE23FEBEAA}"/>
              </a:ext>
            </a:extLst>
          </p:cNvPr>
          <p:cNvSpPr/>
          <p:nvPr/>
        </p:nvSpPr>
        <p:spPr>
          <a:xfrm>
            <a:off x="605288" y="1747713"/>
            <a:ext cx="8778552" cy="646331"/>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800" b="1" dirty="0">
                <a:solidFill>
                  <a:schemeClr val="tx2">
                    <a:lumMod val="10000"/>
                  </a:schemeClr>
                </a:solidFill>
                <a:effectLst>
                  <a:reflection blurRad="12700" stA="0" endPos="81000" dir="5400000" sy="-100000" algn="bl" rotWithShape="0"/>
                </a:effectLst>
                <a:latin typeface="Times New Roman" panose="02020603050405020304" pitchFamily="18" charset="0"/>
                <a:cs typeface="Times New Roman" panose="02020603050405020304" pitchFamily="18" charset="0"/>
              </a:rPr>
              <a:t>DEPARTMENT OF ARTIFICIAL INTELLIGENCE AND MACHINE LEARNING</a:t>
            </a:r>
            <a:br>
              <a:rPr lang="en-IN" sz="1800" b="1" dirty="0">
                <a:solidFill>
                  <a:schemeClr val="tx2">
                    <a:lumMod val="10000"/>
                  </a:schemeClr>
                </a:solidFill>
                <a:effectLst>
                  <a:reflection blurRad="12700" stA="0" endPos="81000" dir="5400000" sy="-100000" algn="bl" rotWithShape="0"/>
                </a:effectLst>
              </a:rPr>
            </a:br>
            <a:endParaRPr lang="en-US" sz="1800" dirty="0"/>
          </a:p>
        </p:txBody>
      </p:sp>
      <p:sp>
        <p:nvSpPr>
          <p:cNvPr id="9" name="Rectangle 8">
            <a:extLst>
              <a:ext uri="{FF2B5EF4-FFF2-40B4-BE49-F238E27FC236}">
                <a16:creationId xmlns:a16="http://schemas.microsoft.com/office/drawing/2014/main" id="{2CA8181B-CF43-1DB4-7150-8A8D19EA3368}"/>
              </a:ext>
            </a:extLst>
          </p:cNvPr>
          <p:cNvSpPr/>
          <p:nvPr/>
        </p:nvSpPr>
        <p:spPr>
          <a:xfrm>
            <a:off x="0" y="3205193"/>
            <a:ext cx="8382000" cy="46166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2400" b="1" dirty="0">
                <a:solidFill>
                  <a:srgbClr val="FF0000"/>
                </a:solidFill>
                <a:effectLst>
                  <a:reflection blurRad="12700" stA="0" endPos="81000" dir="5400000" sy="-100000" algn="bl" rotWithShape="0"/>
                </a:effectLst>
                <a:latin typeface="Times New Roman" panose="02020603050405020304" pitchFamily="18" charset="0"/>
                <a:cs typeface="Times New Roman" panose="02020603050405020304" pitchFamily="18" charset="0"/>
              </a:rPr>
              <a:t>“</a:t>
            </a:r>
            <a:r>
              <a:rPr lang="en-US" sz="2400" b="1" dirty="0">
                <a:solidFill>
                  <a:srgbClr val="FF0000"/>
                </a:solidFill>
                <a:effectLst>
                  <a:reflection blurRad="12700" stA="0" endPos="81000" dir="5400000" sy="-100000" algn="bl" rotWithShape="0"/>
                </a:effectLst>
                <a:latin typeface="Times New Roman" panose="02020603050405020304" pitchFamily="18" charset="0"/>
                <a:cs typeface="Times New Roman" panose="02020603050405020304" pitchFamily="18" charset="0"/>
              </a:rPr>
              <a:t>LICENSE PLATE DETECTOR”</a:t>
            </a:r>
            <a:endParaRPr lang="en-US" sz="2400" dirty="0"/>
          </a:p>
        </p:txBody>
      </p:sp>
      <p:pic>
        <p:nvPicPr>
          <p:cNvPr id="12" name="Picture 11">
            <a:extLst>
              <a:ext uri="{FF2B5EF4-FFF2-40B4-BE49-F238E27FC236}">
                <a16:creationId xmlns:a16="http://schemas.microsoft.com/office/drawing/2014/main" id="{5DCE04A4-A3DA-5CA5-A00A-3A38676034F9}"/>
              </a:ext>
            </a:extLst>
          </p:cNvPr>
          <p:cNvPicPr>
            <a:picLocks noChangeAspect="1"/>
          </p:cNvPicPr>
          <p:nvPr/>
        </p:nvPicPr>
        <p:blipFill rotWithShape="1">
          <a:blip r:embed="rId3">
            <a:extLst>
              <a:ext uri="{28A0092B-C50C-407E-A947-70E740481C1C}">
                <a14:useLocalDpi xmlns:a14="http://schemas.microsoft.com/office/drawing/2010/main" val="0"/>
              </a:ext>
            </a:extLst>
          </a:blip>
          <a:srcRect l="7901" t="5942" r="7901" b="15430"/>
          <a:stretch/>
        </p:blipFill>
        <p:spPr>
          <a:xfrm>
            <a:off x="7515269" y="374404"/>
            <a:ext cx="1295400" cy="11342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2A2C2A3-42CD-78C0-AF17-E8D3ACD9C9CC}"/>
              </a:ext>
            </a:extLst>
          </p:cNvPr>
          <p:cNvSpPr txBox="1">
            <a:spLocks/>
          </p:cNvSpPr>
          <p:nvPr/>
        </p:nvSpPr>
        <p:spPr>
          <a:xfrm>
            <a:off x="662525" y="638620"/>
            <a:ext cx="8911687" cy="1280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IN" dirty="0"/>
              <a:t>Contents </a:t>
            </a:r>
          </a:p>
        </p:txBody>
      </p:sp>
      <p:sp>
        <p:nvSpPr>
          <p:cNvPr id="5" name="Content Placeholder 2">
            <a:extLst>
              <a:ext uri="{FF2B5EF4-FFF2-40B4-BE49-F238E27FC236}">
                <a16:creationId xmlns:a16="http://schemas.microsoft.com/office/drawing/2014/main" id="{9CCEC6B1-077F-5298-85B6-88BBECF211D3}"/>
              </a:ext>
            </a:extLst>
          </p:cNvPr>
          <p:cNvSpPr txBox="1">
            <a:spLocks/>
          </p:cNvSpPr>
          <p:nvPr/>
        </p:nvSpPr>
        <p:spPr>
          <a:xfrm>
            <a:off x="920144" y="2343607"/>
            <a:ext cx="3601056" cy="42309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r>
              <a:rPr lang="en-IN" dirty="0"/>
              <a:t>Introduction</a:t>
            </a:r>
          </a:p>
          <a:p>
            <a:r>
              <a:rPr lang="en-IN" dirty="0"/>
              <a:t>Problem Statement</a:t>
            </a:r>
          </a:p>
          <a:p>
            <a:r>
              <a:rPr lang="en-IN" dirty="0"/>
              <a:t>Literature Review</a:t>
            </a:r>
          </a:p>
          <a:p>
            <a:r>
              <a:rPr lang="en-IN" dirty="0"/>
              <a:t>System Architecture</a:t>
            </a:r>
          </a:p>
          <a:p>
            <a:r>
              <a:rPr lang="en-IN" dirty="0"/>
              <a:t>System Requirements</a:t>
            </a:r>
          </a:p>
          <a:p>
            <a:r>
              <a:rPr lang="en-IN" dirty="0"/>
              <a:t>Methodology</a:t>
            </a:r>
          </a:p>
          <a:p>
            <a:r>
              <a:rPr lang="en-IN" dirty="0"/>
              <a:t>Result Snapshots</a:t>
            </a:r>
          </a:p>
          <a:p>
            <a:r>
              <a:rPr lang="en-IN" dirty="0"/>
              <a:t>Application</a:t>
            </a:r>
          </a:p>
          <a:p>
            <a:r>
              <a:rPr lang="en-IN" dirty="0"/>
              <a:t>Conclusion</a:t>
            </a:r>
          </a:p>
          <a:p>
            <a:r>
              <a:rPr lang="en-IN" dirty="0"/>
              <a:t>Reference</a:t>
            </a:r>
          </a:p>
          <a:p>
            <a:endParaRPr lang="en-IN" dirty="0"/>
          </a:p>
          <a:p>
            <a:endParaRPr lang="en-IN" dirty="0"/>
          </a:p>
        </p:txBody>
      </p:sp>
    </p:spTree>
    <p:extLst>
      <p:ext uri="{BB962C8B-B14F-4D97-AF65-F5344CB8AC3E}">
        <p14:creationId xmlns:p14="http://schemas.microsoft.com/office/powerpoint/2010/main" val="385962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r>
              <a:rPr dirty="0"/>
              <a:t>What is License Plate Detection?</a:t>
            </a:r>
          </a:p>
          <a:p>
            <a:pPr marL="0" indent="0">
              <a:buNone/>
            </a:pPr>
            <a:r>
              <a:rPr lang="en-US" dirty="0"/>
              <a:t>      </a:t>
            </a:r>
            <a:r>
              <a:rPr dirty="0"/>
              <a:t> A technology to detect and recognize license plates from images or </a:t>
            </a:r>
            <a:r>
              <a:rPr dirty="0" err="1"/>
              <a:t>video.Used</a:t>
            </a:r>
            <a:r>
              <a:rPr dirty="0"/>
              <a:t> in surveillance, traffic management, toll collection, etc.</a:t>
            </a:r>
          </a:p>
          <a:p>
            <a:endParaRPr dirty="0"/>
          </a:p>
          <a:p>
            <a:r>
              <a:rPr dirty="0"/>
              <a:t>Objective of the Project:</a:t>
            </a:r>
          </a:p>
          <a:p>
            <a:pPr marL="0" indent="0">
              <a:buNone/>
            </a:pPr>
            <a:r>
              <a:rPr lang="en-US" dirty="0"/>
              <a:t>     </a:t>
            </a:r>
            <a:r>
              <a:rPr dirty="0"/>
              <a:t> Build an automated system for detecting and recognizing license plates accurately.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rPr dirty="0"/>
              <a:t>Challenges in manual detection and monitoring of vehicles.</a:t>
            </a:r>
          </a:p>
          <a:p>
            <a:r>
              <a:rPr dirty="0"/>
              <a:t>Need for automation to improve efficiency and accuracy.</a:t>
            </a:r>
          </a:p>
          <a:p>
            <a:r>
              <a:rPr dirty="0"/>
              <a:t>Examples of real-world applications (e.g., smart cities, traffic enforcement).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01CD81-2C5E-C569-CECA-334770DCD02A}"/>
              </a:ext>
            </a:extLst>
          </p:cNvPr>
          <p:cNvSpPr txBox="1">
            <a:spLocks/>
          </p:cNvSpPr>
          <p:nvPr/>
        </p:nvSpPr>
        <p:spPr>
          <a:xfrm>
            <a:off x="662525" y="705390"/>
            <a:ext cx="8911687" cy="1280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IN" dirty="0"/>
              <a:t>Literature Review</a:t>
            </a:r>
          </a:p>
        </p:txBody>
      </p:sp>
      <p:sp>
        <p:nvSpPr>
          <p:cNvPr id="5" name="TextBox 4">
            <a:extLst>
              <a:ext uri="{FF2B5EF4-FFF2-40B4-BE49-F238E27FC236}">
                <a16:creationId xmlns:a16="http://schemas.microsoft.com/office/drawing/2014/main" id="{0CE23EEC-C13B-3497-4C8A-1851FCDFB330}"/>
              </a:ext>
            </a:extLst>
          </p:cNvPr>
          <p:cNvSpPr txBox="1"/>
          <p:nvPr/>
        </p:nvSpPr>
        <p:spPr>
          <a:xfrm>
            <a:off x="145326" y="1971040"/>
            <a:ext cx="9428886" cy="5339539"/>
          </a:xfrm>
          <a:prstGeom prst="rect">
            <a:avLst/>
          </a:prstGeom>
          <a:noFill/>
        </p:spPr>
        <p:txBody>
          <a:bodyPr wrap="square">
            <a:spAutoFit/>
          </a:bodyPr>
          <a:lstStyle/>
          <a:p>
            <a:pPr marR="314325" lvl="0">
              <a:lnSpc>
                <a:spcPct val="150000"/>
              </a:lnSpc>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Authors:</a:t>
            </a:r>
            <a:r>
              <a:rPr lang="en-US" sz="1600" b="1" spc="-15"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Kumar A, Sharma A.</a:t>
            </a:r>
          </a:p>
          <a:p>
            <a:pPr marR="314325" lvl="0">
              <a:lnSpc>
                <a:spcPct val="150000"/>
              </a:lnSpc>
              <a:spcAft>
                <a:spcPts val="0"/>
              </a:spcAft>
              <a:buSzPts val="1200"/>
              <a:tabLst>
                <a:tab pos="435610" algn="l"/>
                <a:tab pos="457200" algn="l"/>
              </a:tabLst>
            </a:pPr>
            <a:r>
              <a:rPr lang="en-US" sz="1600" spc="-15" dirty="0">
                <a:effectLst/>
                <a:latin typeface="Times New Roman" panose="02020603050405020304" pitchFamily="18" charset="0"/>
                <a:ea typeface="Times New Roman" panose="02020603050405020304" pitchFamily="18" charset="0"/>
              </a:rPr>
              <a:t>	 </a:t>
            </a:r>
            <a:r>
              <a:rPr lang="en-US" sz="1600" b="1" spc="0" dirty="0">
                <a:effectLst/>
                <a:latin typeface="Times New Roman" panose="02020603050405020304" pitchFamily="18" charset="0"/>
                <a:ea typeface="Times New Roman" panose="02020603050405020304" pitchFamily="18" charset="0"/>
              </a:rPr>
              <a:t>Title:</a:t>
            </a:r>
            <a:r>
              <a:rPr lang="en-US" sz="1600" b="1" spc="-15"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"A survey of recent advances in image steganography." Security   and Privacy. 2023</a:t>
            </a:r>
            <a:endParaRPr lang="en-IN" sz="1400" spc="0" dirty="0">
              <a:effectLst/>
              <a:latin typeface="Times New Roman" panose="02020603050405020304" pitchFamily="18" charset="0"/>
              <a:ea typeface="Times New Roman" panose="02020603050405020304" pitchFamily="18" charset="0"/>
            </a:endParaRPr>
          </a:p>
          <a:p>
            <a:pPr marR="214630" lvl="0">
              <a:lnSpc>
                <a:spcPct val="148000"/>
              </a:lnSpc>
              <a:spcBef>
                <a:spcPts val="1045"/>
              </a:spcBef>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Authors</a:t>
            </a:r>
            <a:r>
              <a:rPr lang="en-US" sz="1600" spc="0" dirty="0">
                <a:effectLst/>
                <a:latin typeface="Times New Roman" panose="02020603050405020304" pitchFamily="18" charset="0"/>
                <a:ea typeface="Times New Roman" panose="02020603050405020304" pitchFamily="18" charset="0"/>
              </a:rPr>
              <a:t>:</a:t>
            </a:r>
            <a:r>
              <a:rPr lang="en-US" sz="1600" spc="-15" dirty="0">
                <a:effectLst/>
                <a:latin typeface="Times New Roman" panose="02020603050405020304" pitchFamily="18" charset="0"/>
                <a:ea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rPr>
              <a:t>Idakwo</a:t>
            </a:r>
            <a:r>
              <a:rPr lang="en-IN" sz="1600" dirty="0">
                <a:effectLst/>
                <a:latin typeface="Times New Roman" panose="02020603050405020304" pitchFamily="18" charset="0"/>
                <a:ea typeface="Times New Roman" panose="02020603050405020304" pitchFamily="18" charset="0"/>
              </a:rPr>
              <a:t> MA, Muazu MB, </a:t>
            </a:r>
            <a:r>
              <a:rPr lang="en-IN" sz="1600" dirty="0" err="1">
                <a:effectLst/>
                <a:latin typeface="Times New Roman" panose="02020603050405020304" pitchFamily="18" charset="0"/>
                <a:ea typeface="Times New Roman" panose="02020603050405020304" pitchFamily="18" charset="0"/>
              </a:rPr>
              <a:t>Adedokun</a:t>
            </a:r>
            <a:r>
              <a:rPr lang="en-IN" sz="1600" dirty="0">
                <a:effectLst/>
                <a:latin typeface="Times New Roman" panose="02020603050405020304" pitchFamily="18" charset="0"/>
                <a:ea typeface="Times New Roman" panose="02020603050405020304" pitchFamily="18" charset="0"/>
              </a:rPr>
              <a:t> AE, Sadiq BO.</a:t>
            </a:r>
          </a:p>
          <a:p>
            <a:pPr marR="214630" lvl="0">
              <a:lnSpc>
                <a:spcPct val="148000"/>
              </a:lnSpc>
              <a:spcBef>
                <a:spcPts val="1045"/>
              </a:spcBef>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	Title:</a:t>
            </a:r>
            <a:r>
              <a:rPr lang="en-US" sz="1600" b="1" spc="-15"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"An Extensive Survey of Digital  Image Steganography”</a:t>
            </a:r>
          </a:p>
          <a:p>
            <a:pPr marR="214630" lvl="0">
              <a:lnSpc>
                <a:spcPct val="148000"/>
              </a:lnSpc>
              <a:spcBef>
                <a:spcPts val="1045"/>
              </a:spcBef>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Authors</a:t>
            </a:r>
            <a:r>
              <a:rPr lang="en-US" sz="1600" b="1" dirty="0">
                <a:latin typeface="Times New Roman" panose="02020603050405020304" pitchFamily="18" charset="0"/>
                <a:ea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rPr>
              <a:t>Cheddad</a:t>
            </a:r>
            <a:r>
              <a:rPr lang="en-IN" sz="1600" dirty="0">
                <a:effectLst/>
                <a:latin typeface="Times New Roman" panose="02020603050405020304" pitchFamily="18" charset="0"/>
                <a:ea typeface="Times New Roman" panose="02020603050405020304" pitchFamily="18" charset="0"/>
              </a:rPr>
              <a:t> A, Condell J, Curran K, </a:t>
            </a:r>
            <a:r>
              <a:rPr lang="en-IN" sz="1600" dirty="0" err="1">
                <a:effectLst/>
                <a:latin typeface="Times New Roman" panose="02020603050405020304" pitchFamily="18" charset="0"/>
                <a:ea typeface="Times New Roman" panose="02020603050405020304" pitchFamily="18" charset="0"/>
              </a:rPr>
              <a:t>McKevitt</a:t>
            </a:r>
            <a:r>
              <a:rPr lang="en-IN" sz="1600" dirty="0">
                <a:effectLst/>
                <a:latin typeface="Times New Roman" panose="02020603050405020304" pitchFamily="18" charset="0"/>
                <a:ea typeface="Times New Roman" panose="02020603050405020304" pitchFamily="18" charset="0"/>
              </a:rPr>
              <a:t> P.</a:t>
            </a:r>
          </a:p>
          <a:p>
            <a:pPr marR="214630" lvl="0">
              <a:lnSpc>
                <a:spcPct val="148000"/>
              </a:lnSpc>
              <a:spcBef>
                <a:spcPts val="1045"/>
              </a:spcBef>
              <a:spcAft>
                <a:spcPts val="0"/>
              </a:spcAft>
              <a:buSzPts val="1200"/>
              <a:tabLst>
                <a:tab pos="435610" algn="l"/>
                <a:tab pos="457200" algn="l"/>
              </a:tabLst>
            </a:pPr>
            <a:r>
              <a:rPr lang="en-US" sz="1600" b="1" dirty="0">
                <a:effectLst/>
                <a:latin typeface="Times New Roman" panose="02020603050405020304" pitchFamily="18" charset="0"/>
                <a:ea typeface="Times New Roman" panose="02020603050405020304" pitchFamily="18" charset="0"/>
              </a:rPr>
              <a:t>	Title:</a:t>
            </a:r>
            <a:r>
              <a:rPr lang="en-US" sz="1600" b="1" spc="-10" dirty="0">
                <a:effectLst/>
                <a:latin typeface="Times New Roman" panose="02020603050405020304" pitchFamily="18" charset="0"/>
                <a:ea typeface="Times New Roman" panose="02020603050405020304" pitchFamily="18" charset="0"/>
              </a:rPr>
              <a:t> </a:t>
            </a:r>
            <a:r>
              <a:rPr lang="en-IN" sz="1600" b="1"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"Digital image steganography: Survey and analysis of current </a:t>
            </a:r>
            <a:r>
              <a:rPr lang="en-IN" sz="1600" dirty="0" err="1">
                <a:effectLst/>
                <a:latin typeface="Times New Roman" panose="02020603050405020304" pitchFamily="18" charset="0"/>
                <a:ea typeface="Times New Roman" panose="02020603050405020304" pitchFamily="18" charset="0"/>
              </a:rPr>
              <a:t>methods."Signal</a:t>
            </a:r>
            <a:r>
              <a:rPr lang="en-IN" sz="1600" dirty="0">
                <a:effectLst/>
                <a:latin typeface="Times New Roman" panose="02020603050405020304" pitchFamily="18" charset="0"/>
                <a:ea typeface="Times New Roman" panose="02020603050405020304" pitchFamily="18" charset="0"/>
              </a:rPr>
              <a:t> Processing. 2010</a:t>
            </a:r>
          </a:p>
          <a:p>
            <a:pPr marR="214630" lvl="0">
              <a:lnSpc>
                <a:spcPct val="148000"/>
              </a:lnSpc>
              <a:spcBef>
                <a:spcPts val="1045"/>
              </a:spcBef>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Authors:</a:t>
            </a:r>
            <a:r>
              <a:rPr lang="en-US" sz="1600" b="1" spc="-25" dirty="0">
                <a:effectLst/>
                <a:latin typeface="Times New Roman" panose="02020603050405020304" pitchFamily="18" charset="0"/>
                <a:ea typeface="Times New Roman" panose="02020603050405020304" pitchFamily="18" charset="0"/>
              </a:rPr>
              <a:t> </a:t>
            </a:r>
            <a:r>
              <a:rPr lang="en-IN" sz="1600" dirty="0" err="1">
                <a:effectLst/>
                <a:latin typeface="Times New Roman" panose="02020603050405020304" pitchFamily="18" charset="0"/>
                <a:ea typeface="Times New Roman" panose="02020603050405020304" pitchFamily="18" charset="0"/>
              </a:rPr>
              <a:t>Kadhim</a:t>
            </a:r>
            <a:r>
              <a:rPr lang="en-IN" sz="1600" dirty="0">
                <a:effectLst/>
                <a:latin typeface="Times New Roman" panose="02020603050405020304" pitchFamily="18" charset="0"/>
                <a:ea typeface="Times New Roman" panose="02020603050405020304" pitchFamily="18" charset="0"/>
              </a:rPr>
              <a:t> I, Premaratne P, Vial P, Halloran B.</a:t>
            </a:r>
          </a:p>
          <a:p>
            <a:pPr marR="214630" lvl="0">
              <a:lnSpc>
                <a:spcPct val="148000"/>
              </a:lnSpc>
              <a:spcBef>
                <a:spcPts val="1045"/>
              </a:spcBef>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	Title:</a:t>
            </a:r>
            <a:r>
              <a:rPr lang="en-US" sz="1600" b="1" spc="-25"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"Comprehensive survey of image  steganography: Techniques, Evaluations, and trends in future research."  Neurocomputing. 2019</a:t>
            </a:r>
          </a:p>
          <a:p>
            <a:pPr marR="314325" lvl="0">
              <a:lnSpc>
                <a:spcPct val="150000"/>
              </a:lnSpc>
              <a:spcAft>
                <a:spcPts val="0"/>
              </a:spcAft>
              <a:buSzPts val="1200"/>
              <a:tabLst>
                <a:tab pos="435610" algn="l"/>
                <a:tab pos="457200" algn="l"/>
              </a:tabLst>
            </a:pPr>
            <a:r>
              <a:rPr lang="en-US" sz="1600" b="1" spc="0" dirty="0">
                <a:effectLst/>
                <a:latin typeface="Times New Roman" panose="02020603050405020304" pitchFamily="18" charset="0"/>
                <a:ea typeface="Times New Roman" panose="02020603050405020304" pitchFamily="18" charset="0"/>
              </a:rPr>
              <a:t>Authors:</a:t>
            </a:r>
            <a:r>
              <a:rPr lang="en-US" sz="1600" b="1" spc="-15"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Hussain M, Wahab AWA, Idris YI, Ho AB, Jung K, Khan S</a:t>
            </a:r>
          </a:p>
          <a:p>
            <a:pPr marR="314325" lvl="0">
              <a:lnSpc>
                <a:spcPct val="150000"/>
              </a:lnSpc>
              <a:spcAft>
                <a:spcPts val="0"/>
              </a:spcAft>
              <a:buSzPts val="1200"/>
              <a:tabLst>
                <a:tab pos="435610" algn="l"/>
                <a:tab pos="457200" algn="l"/>
              </a:tabLst>
            </a:pPr>
            <a:r>
              <a:rPr lang="en-US" sz="1600" spc="-15" dirty="0">
                <a:effectLst/>
                <a:latin typeface="Times New Roman" panose="02020603050405020304" pitchFamily="18" charset="0"/>
                <a:ea typeface="Times New Roman" panose="02020603050405020304" pitchFamily="18" charset="0"/>
              </a:rPr>
              <a:t>	 </a:t>
            </a:r>
            <a:r>
              <a:rPr lang="en-US" sz="1600" b="1" spc="0" dirty="0">
                <a:effectLst/>
                <a:latin typeface="Times New Roman" panose="02020603050405020304" pitchFamily="18" charset="0"/>
                <a:ea typeface="Times New Roman" panose="02020603050405020304" pitchFamily="18" charset="0"/>
              </a:rPr>
              <a:t>Title:</a:t>
            </a:r>
            <a:r>
              <a:rPr lang="en-US" sz="1600" b="1" spc="-15" dirty="0">
                <a:effectLst/>
                <a:latin typeface="Times New Roman" panose="02020603050405020304" pitchFamily="18" charset="0"/>
                <a:ea typeface="Times New Roman" panose="02020603050405020304" pitchFamily="18" charset="0"/>
              </a:rPr>
              <a:t> </a:t>
            </a:r>
            <a:r>
              <a:rPr lang="en-IN" sz="1600" dirty="0">
                <a:effectLst/>
                <a:latin typeface="Times New Roman" panose="02020603050405020304" pitchFamily="18" charset="0"/>
                <a:ea typeface="Times New Roman" panose="02020603050405020304" pitchFamily="18" charset="0"/>
              </a:rPr>
              <a:t>"Image steganography in spatial domain: A survey."</a:t>
            </a:r>
          </a:p>
          <a:p>
            <a:pPr marR="214630" lvl="0">
              <a:lnSpc>
                <a:spcPct val="148000"/>
              </a:lnSpc>
              <a:spcBef>
                <a:spcPts val="1045"/>
              </a:spcBef>
              <a:spcAft>
                <a:spcPts val="0"/>
              </a:spcAft>
              <a:buSzPts val="1200"/>
              <a:tabLst>
                <a:tab pos="435610" algn="l"/>
                <a:tab pos="457200" algn="l"/>
              </a:tabLst>
            </a:pPr>
            <a:endParaRPr lang="en-IN" sz="16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72224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pic>
        <p:nvPicPr>
          <p:cNvPr id="10" name="Picture 9">
            <a:extLst>
              <a:ext uri="{FF2B5EF4-FFF2-40B4-BE49-F238E27FC236}">
                <a16:creationId xmlns:a16="http://schemas.microsoft.com/office/drawing/2014/main" id="{59869CD9-0CE3-39E0-0EC0-D9D9FDEB300B}"/>
              </a:ext>
            </a:extLst>
          </p:cNvPr>
          <p:cNvPicPr>
            <a:picLocks noChangeAspect="1"/>
          </p:cNvPicPr>
          <p:nvPr/>
        </p:nvPicPr>
        <p:blipFill>
          <a:blip r:embed="rId2"/>
          <a:stretch>
            <a:fillRect/>
          </a:stretch>
        </p:blipFill>
        <p:spPr>
          <a:xfrm>
            <a:off x="701041" y="2047731"/>
            <a:ext cx="7250642" cy="47289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6DE465-5B9C-585B-1CC8-A289DE34E2B2}"/>
              </a:ext>
            </a:extLst>
          </p:cNvPr>
          <p:cNvSpPr txBox="1">
            <a:spLocks/>
          </p:cNvSpPr>
          <p:nvPr/>
        </p:nvSpPr>
        <p:spPr>
          <a:xfrm>
            <a:off x="361771" y="611646"/>
            <a:ext cx="8911687" cy="128089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IN" dirty="0"/>
              <a:t>SYSTEM REQUIREMENTS</a:t>
            </a:r>
          </a:p>
        </p:txBody>
      </p:sp>
      <p:sp>
        <p:nvSpPr>
          <p:cNvPr id="5" name="Content Placeholder 2">
            <a:extLst>
              <a:ext uri="{FF2B5EF4-FFF2-40B4-BE49-F238E27FC236}">
                <a16:creationId xmlns:a16="http://schemas.microsoft.com/office/drawing/2014/main" id="{4E3DCC00-D726-A9B8-E304-975CDF9D449E}"/>
              </a:ext>
            </a:extLst>
          </p:cNvPr>
          <p:cNvSpPr txBox="1">
            <a:spLocks/>
          </p:cNvSpPr>
          <p:nvPr/>
        </p:nvSpPr>
        <p:spPr>
          <a:xfrm>
            <a:off x="608232" y="2387600"/>
            <a:ext cx="11654888" cy="53949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sz="2000" b="1" dirty="0">
                <a:latin typeface="Times New Roman" panose="02020603050405020304" pitchFamily="18" charset="0"/>
                <a:cs typeface="Times New Roman" panose="02020603050405020304" pitchFamily="18" charset="0"/>
              </a:rPr>
              <a:t>1. Hardware Requirements</a:t>
            </a:r>
            <a:r>
              <a:rPr lang="en-IN" sz="20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1600" u="none" strike="noStrike" kern="100" dirty="0">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Intel Core i5/i7 or equivalent (Quad-core, 2.5 GHz or higher). </a:t>
            </a:r>
          </a:p>
          <a:p>
            <a:pPr>
              <a:buFont typeface="Wingdings" panose="05000000000000000000" pitchFamily="2" charset="2"/>
              <a:buChar char="Ø"/>
            </a:pPr>
            <a:r>
              <a:rPr lang="en-IN" sz="1600" u="none" strike="noStrike" kern="100" dirty="0">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RAM: 4GB and higher. </a:t>
            </a:r>
          </a:p>
          <a:p>
            <a:pPr>
              <a:buFont typeface="Wingdings" panose="05000000000000000000" pitchFamily="2" charset="2"/>
              <a:buChar char="Ø"/>
            </a:pPr>
            <a:r>
              <a:rPr lang="en-IN" sz="1600" u="none" strike="noStrike" kern="100" dirty="0">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Disk Space: At least 8 GB (16 GB recommended for better performance). </a:t>
            </a:r>
          </a:p>
          <a:p>
            <a:pPr>
              <a:buFont typeface="Wingdings" panose="05000000000000000000" pitchFamily="2" charset="2"/>
              <a:buChar char="Ø"/>
            </a:pPr>
            <a:r>
              <a:rPr lang="en-IN" sz="1600" u="none" strike="noStrike" kern="100" dirty="0">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High-resolution camera for capturing areca nut images. </a:t>
            </a:r>
          </a:p>
          <a:p>
            <a:pPr>
              <a:buFont typeface="Wingdings" panose="05000000000000000000" pitchFamily="2" charset="2"/>
              <a:buChar char="Ø"/>
            </a:pPr>
            <a:r>
              <a:rPr lang="en-IN" sz="1600" u="none" strike="noStrike" kern="100" dirty="0">
                <a:effectLst/>
                <a:uFill>
                  <a:solidFill>
                    <a:srgbClr val="000000"/>
                  </a:solidFill>
                </a:uFill>
                <a:latin typeface="Times New Roman" panose="02020603050405020304" pitchFamily="18" charset="0"/>
                <a:ea typeface="Arial" panose="020B0604020202020204" pitchFamily="34" charset="0"/>
                <a:cs typeface="Times New Roman" panose="02020603050405020304" pitchFamily="18" charset="0"/>
              </a:rPr>
              <a:t>Internet connectivity for data transfer. </a:t>
            </a:r>
          </a:p>
          <a:p>
            <a:pPr marL="0" indent="0">
              <a:buNone/>
            </a:pPr>
            <a:r>
              <a:rPr lang="en-IN" sz="2000" b="1" dirty="0">
                <a:latin typeface="Times New Roman" panose="02020603050405020304" pitchFamily="18" charset="0"/>
                <a:cs typeface="Times New Roman" panose="02020603050405020304" pitchFamily="18" charset="0"/>
              </a:rPr>
              <a:t>2. Software Requirements</a:t>
            </a:r>
            <a:r>
              <a:rPr lang="en-IN" sz="20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Programming Language</a:t>
            </a:r>
            <a:r>
              <a:rPr lang="en-IN" sz="1600" dirty="0">
                <a:latin typeface="Times New Roman" panose="02020603050405020304" pitchFamily="18" charset="0"/>
                <a:cs typeface="Times New Roman" panose="02020603050405020304" pitchFamily="18" charset="0"/>
              </a:rPr>
              <a:t>: Python 3.x</a:t>
            </a: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Libraries</a:t>
            </a:r>
            <a:r>
              <a:rPr lang="en-IN" sz="1600" dirty="0">
                <a:latin typeface="Times New Roman" panose="02020603050405020304" pitchFamily="18" charset="0"/>
                <a:cs typeface="Times New Roman" panose="02020603050405020304" pitchFamily="18" charset="0"/>
              </a:rPr>
              <a:t>: </a:t>
            </a:r>
            <a:r>
              <a:rPr lang="en-IN" sz="1600" b="0" dirty="0" err="1">
                <a:effectLst/>
                <a:latin typeface="Times New Roman" panose="02020603050405020304" pitchFamily="18" charset="0"/>
                <a:cs typeface="Times New Roman" panose="02020603050405020304" pitchFamily="18" charset="0"/>
              </a:rPr>
              <a:t>pytesseract</a:t>
            </a:r>
            <a:r>
              <a:rPr lang="en-IN" sz="1600" dirty="0">
                <a:latin typeface="Times New Roman" panose="02020603050405020304" pitchFamily="18" charset="0"/>
                <a:cs typeface="Times New Roman" panose="02020603050405020304" pitchFamily="18" charset="0"/>
              </a:rPr>
              <a:t>, </a:t>
            </a:r>
            <a:r>
              <a:rPr lang="en-IN" sz="1600" b="0" dirty="0">
                <a:effectLst/>
                <a:latin typeface="Times New Roman" panose="02020603050405020304" pitchFamily="18" charset="0"/>
                <a:cs typeface="Times New Roman" panose="02020603050405020304" pitchFamily="18" charset="0"/>
              </a:rPr>
              <a:t>Tesseract-OCR</a:t>
            </a:r>
            <a:r>
              <a:rPr lang="en-IN" sz="1600" dirty="0">
                <a:latin typeface="Times New Roman" panose="02020603050405020304" pitchFamily="18" charset="0"/>
                <a:cs typeface="Times New Roman" panose="02020603050405020304" pitchFamily="18" charset="0"/>
              </a:rPr>
              <a:t>, OpenCV, NumPy, Matplotlib.</a:t>
            </a:r>
          </a:p>
          <a:p>
            <a:pPr>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Development Tools</a:t>
            </a:r>
            <a:r>
              <a:rPr lang="en-IN" sz="1600" dirty="0">
                <a:latin typeface="Times New Roman" panose="02020603050405020304" pitchFamily="18" charset="0"/>
                <a:cs typeface="Times New Roman" panose="02020603050405020304" pitchFamily="18" charset="0"/>
              </a:rPr>
              <a:t>: VS Code.</a:t>
            </a:r>
          </a:p>
          <a:p>
            <a:endParaRPr lang="en-IN" dirty="0"/>
          </a:p>
        </p:txBody>
      </p:sp>
    </p:spTree>
    <p:extLst>
      <p:ext uri="{BB962C8B-B14F-4D97-AF65-F5344CB8AC3E}">
        <p14:creationId xmlns:p14="http://schemas.microsoft.com/office/powerpoint/2010/main" val="2458485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a:xfrm>
            <a:off x="533400" y="2336873"/>
            <a:ext cx="8197645" cy="4270404"/>
          </a:xfrm>
        </p:spPr>
        <p:txBody>
          <a:bodyPr>
            <a:normAutofit fontScale="77500" lnSpcReduction="20000"/>
          </a:bodyPr>
          <a:lstStyle/>
          <a:p>
            <a:r>
              <a:rPr dirty="0"/>
              <a:t>Step 1: Data Acquisition</a:t>
            </a:r>
          </a:p>
          <a:p>
            <a:pPr marL="0" indent="0">
              <a:buNone/>
            </a:pPr>
            <a:r>
              <a:rPr lang="en-US" dirty="0"/>
              <a:t>        </a:t>
            </a:r>
            <a:r>
              <a:rPr dirty="0"/>
              <a:t>Collection of images/videos with diverse scenarios.</a:t>
            </a:r>
          </a:p>
          <a:p>
            <a:endParaRPr dirty="0"/>
          </a:p>
          <a:p>
            <a:r>
              <a:rPr dirty="0"/>
              <a:t>Step 2: Preprocessing</a:t>
            </a:r>
          </a:p>
          <a:p>
            <a:pPr marL="0" indent="0">
              <a:buNone/>
            </a:pPr>
            <a:r>
              <a:rPr lang="en-US" dirty="0"/>
              <a:t>        </a:t>
            </a:r>
            <a:r>
              <a:rPr dirty="0"/>
              <a:t>Techniques: Grayscale conversion, histogram equalization, etc.</a:t>
            </a:r>
          </a:p>
          <a:p>
            <a:endParaRPr dirty="0"/>
          </a:p>
          <a:p>
            <a:r>
              <a:rPr dirty="0"/>
              <a:t>Step 3: License Plate Detection</a:t>
            </a:r>
          </a:p>
          <a:p>
            <a:pPr marL="0" indent="0">
              <a:buNone/>
            </a:pPr>
            <a:r>
              <a:rPr lang="en-US" dirty="0"/>
              <a:t>         </a:t>
            </a:r>
            <a:r>
              <a:rPr dirty="0"/>
              <a:t>Algorithms:  Edge Detection</a:t>
            </a:r>
            <a:r>
              <a:rPr lang="en-US" dirty="0"/>
              <a:t>.</a:t>
            </a:r>
            <a:endParaRPr dirty="0"/>
          </a:p>
          <a:p>
            <a:endParaRPr dirty="0"/>
          </a:p>
          <a:p>
            <a:r>
              <a:rPr dirty="0"/>
              <a:t>Step 4: OCR for Character Recognition</a:t>
            </a:r>
          </a:p>
          <a:p>
            <a:pPr marL="0" indent="0">
              <a:buNone/>
            </a:pPr>
            <a:r>
              <a:rPr lang="en-US" dirty="0"/>
              <a:t>         </a:t>
            </a:r>
            <a:r>
              <a:rPr dirty="0"/>
              <a:t>Libraries: Tesseract OCR.</a:t>
            </a:r>
          </a:p>
          <a:p>
            <a:endParaRPr dirty="0"/>
          </a:p>
          <a:p>
            <a:r>
              <a:rPr dirty="0"/>
              <a:t>Step 5: Validation and Post-processing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0ED09-E43A-8804-4E48-8183F49C99C7}"/>
              </a:ext>
            </a:extLst>
          </p:cNvPr>
          <p:cNvSpPr>
            <a:spLocks noGrp="1"/>
          </p:cNvSpPr>
          <p:nvPr>
            <p:ph type="title"/>
          </p:nvPr>
        </p:nvSpPr>
        <p:spPr/>
        <p:txBody>
          <a:bodyPr/>
          <a:lstStyle/>
          <a:p>
            <a:pPr algn="ctr"/>
            <a:r>
              <a:rPr lang="en-US" dirty="0"/>
              <a:t>SNAPSHOTS</a:t>
            </a:r>
            <a:br>
              <a:rPr lang="en-US" dirty="0"/>
            </a:br>
            <a:r>
              <a:rPr lang="en-US" sz="2800" dirty="0"/>
              <a:t>Step 1:Original Image</a:t>
            </a:r>
            <a:endParaRPr lang="en-IN" dirty="0"/>
          </a:p>
        </p:txBody>
      </p:sp>
      <p:pic>
        <p:nvPicPr>
          <p:cNvPr id="5" name="Content Placeholder 4">
            <a:extLst>
              <a:ext uri="{FF2B5EF4-FFF2-40B4-BE49-F238E27FC236}">
                <a16:creationId xmlns:a16="http://schemas.microsoft.com/office/drawing/2014/main" id="{30803849-9E67-3E12-5E7D-BED8FAAD7FCD}"/>
              </a:ext>
            </a:extLst>
          </p:cNvPr>
          <p:cNvPicPr>
            <a:picLocks noGrp="1" noChangeAspect="1"/>
          </p:cNvPicPr>
          <p:nvPr>
            <p:ph idx="1"/>
          </p:nvPr>
        </p:nvPicPr>
        <p:blipFill>
          <a:blip r:embed="rId2"/>
          <a:stretch>
            <a:fillRect/>
          </a:stretch>
        </p:blipFill>
        <p:spPr>
          <a:xfrm>
            <a:off x="907559" y="2045032"/>
            <a:ext cx="7098521" cy="3912340"/>
          </a:xfrm>
        </p:spPr>
      </p:pic>
      <p:sp>
        <p:nvSpPr>
          <p:cNvPr id="3" name="TextBox 2">
            <a:extLst>
              <a:ext uri="{FF2B5EF4-FFF2-40B4-BE49-F238E27FC236}">
                <a16:creationId xmlns:a16="http://schemas.microsoft.com/office/drawing/2014/main" id="{1785D7DE-EDE0-CFBB-0711-5F17BEC2C03A}"/>
              </a:ext>
            </a:extLst>
          </p:cNvPr>
          <p:cNvSpPr txBox="1"/>
          <p:nvPr/>
        </p:nvSpPr>
        <p:spPr>
          <a:xfrm>
            <a:off x="203200" y="5957372"/>
            <a:ext cx="9032240" cy="923330"/>
          </a:xfrm>
          <a:prstGeom prst="rect">
            <a:avLst/>
          </a:prstGeom>
          <a:noFill/>
        </p:spPr>
        <p:txBody>
          <a:bodyPr wrap="square" rtlCol="0">
            <a:spAutoFit/>
          </a:bodyPr>
          <a:lstStyle/>
          <a:p>
            <a:r>
              <a:rPr lang="en-IN" dirty="0">
                <a:solidFill>
                  <a:srgbClr val="000000"/>
                </a:solidFill>
                <a:latin typeface="Times New Roman" panose="02020603050405020304" pitchFamily="18" charset="0"/>
                <a:ea typeface="Times New Roman" panose="02020603050405020304" pitchFamily="18" charset="0"/>
              </a:rPr>
              <a:t>         D</a:t>
            </a:r>
            <a:r>
              <a:rPr lang="en-IN" sz="1800" dirty="0">
                <a:solidFill>
                  <a:srgbClr val="000000"/>
                </a:solidFill>
                <a:effectLst/>
                <a:latin typeface="Times New Roman" panose="02020603050405020304" pitchFamily="18" charset="0"/>
                <a:ea typeface="Times New Roman" panose="02020603050405020304" pitchFamily="18" charset="0"/>
              </a:rPr>
              <a:t>isplays the original image loaded from the specified path. It allows you to visually inspect the input image before any processing is applied. This is useful for confirming that the image has been loaded correctly</a:t>
            </a:r>
            <a:endParaRPr lang="en-IN" dirty="0"/>
          </a:p>
        </p:txBody>
      </p:sp>
    </p:spTree>
    <p:extLst>
      <p:ext uri="{BB962C8B-B14F-4D97-AF65-F5344CB8AC3E}">
        <p14:creationId xmlns:p14="http://schemas.microsoft.com/office/powerpoint/2010/main" val="1917490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30169-FBAB-7F77-DA39-5888AA38295B}"/>
              </a:ext>
            </a:extLst>
          </p:cNvPr>
          <p:cNvSpPr>
            <a:spLocks noGrp="1"/>
          </p:cNvSpPr>
          <p:nvPr>
            <p:ph type="title"/>
          </p:nvPr>
        </p:nvSpPr>
        <p:spPr/>
        <p:txBody>
          <a:bodyPr/>
          <a:lstStyle/>
          <a:p>
            <a:pPr algn="ctr"/>
            <a:r>
              <a:rPr lang="en-US" dirty="0"/>
              <a:t>SNAPSHOTS</a:t>
            </a:r>
            <a:br>
              <a:rPr lang="en-US" dirty="0"/>
            </a:br>
            <a:r>
              <a:rPr lang="en-US" sz="2800" dirty="0"/>
              <a:t>Step 2:Edge Detection</a:t>
            </a:r>
            <a:endParaRPr lang="en-IN" dirty="0"/>
          </a:p>
        </p:txBody>
      </p:sp>
      <p:pic>
        <p:nvPicPr>
          <p:cNvPr id="5" name="Content Placeholder 4">
            <a:extLst>
              <a:ext uri="{FF2B5EF4-FFF2-40B4-BE49-F238E27FC236}">
                <a16:creationId xmlns:a16="http://schemas.microsoft.com/office/drawing/2014/main" id="{86A63FC6-5FF7-9C63-BDE2-0F28F50C555E}"/>
              </a:ext>
            </a:extLst>
          </p:cNvPr>
          <p:cNvPicPr>
            <a:picLocks noGrp="1" noChangeAspect="1"/>
          </p:cNvPicPr>
          <p:nvPr>
            <p:ph idx="1"/>
          </p:nvPr>
        </p:nvPicPr>
        <p:blipFill>
          <a:blip r:embed="rId2"/>
          <a:stretch>
            <a:fillRect/>
          </a:stretch>
        </p:blipFill>
        <p:spPr>
          <a:xfrm>
            <a:off x="531639" y="2037165"/>
            <a:ext cx="7454121" cy="3917825"/>
          </a:xfrm>
        </p:spPr>
      </p:pic>
      <p:sp>
        <p:nvSpPr>
          <p:cNvPr id="3" name="TextBox 2">
            <a:extLst>
              <a:ext uri="{FF2B5EF4-FFF2-40B4-BE49-F238E27FC236}">
                <a16:creationId xmlns:a16="http://schemas.microsoft.com/office/drawing/2014/main" id="{83033ABC-69E9-A446-10C4-E5FD4CE18EB6}"/>
              </a:ext>
            </a:extLst>
          </p:cNvPr>
          <p:cNvSpPr txBox="1"/>
          <p:nvPr/>
        </p:nvSpPr>
        <p:spPr>
          <a:xfrm>
            <a:off x="182880" y="5934670"/>
            <a:ext cx="9123680" cy="923330"/>
          </a:xfrm>
          <a:prstGeom prst="rect">
            <a:avLst/>
          </a:prstGeom>
          <a:noFill/>
        </p:spPr>
        <p:txBody>
          <a:bodyPr wrap="square" rtlCol="0">
            <a:spAutoFit/>
          </a:bodyPr>
          <a:lstStyle/>
          <a:p>
            <a:r>
              <a:rPr lang="en-IN" dirty="0">
                <a:solidFill>
                  <a:srgbClr val="000000"/>
                </a:solidFill>
                <a:latin typeface="Times New Roman" panose="02020603050405020304" pitchFamily="18" charset="0"/>
                <a:ea typeface="Times New Roman" panose="02020603050405020304" pitchFamily="18" charset="0"/>
              </a:rPr>
              <a:t>      T</a:t>
            </a:r>
            <a:r>
              <a:rPr lang="en-IN" sz="1800" dirty="0">
                <a:solidFill>
                  <a:srgbClr val="000000"/>
                </a:solidFill>
                <a:effectLst/>
                <a:latin typeface="Times New Roman" panose="02020603050405020304" pitchFamily="18" charset="0"/>
                <a:ea typeface="Times New Roman" panose="02020603050405020304" pitchFamily="18" charset="0"/>
              </a:rPr>
              <a:t>he edge detection of the car image, after applying edge detection with the Canny algorithm, this plot shows the edges detected in the grayscale image. The edges represent boundaries in the image.</a:t>
            </a:r>
            <a:endParaRPr lang="en-IN" dirty="0"/>
          </a:p>
        </p:txBody>
      </p:sp>
    </p:spTree>
    <p:extLst>
      <p:ext uri="{BB962C8B-B14F-4D97-AF65-F5344CB8AC3E}">
        <p14:creationId xmlns:p14="http://schemas.microsoft.com/office/powerpoint/2010/main" val="2584761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24F21-961B-790D-62B5-D99B07118DA1}"/>
              </a:ext>
            </a:extLst>
          </p:cNvPr>
          <p:cNvSpPr>
            <a:spLocks noGrp="1"/>
          </p:cNvSpPr>
          <p:nvPr>
            <p:ph type="title"/>
          </p:nvPr>
        </p:nvSpPr>
        <p:spPr/>
        <p:txBody>
          <a:bodyPr/>
          <a:lstStyle/>
          <a:p>
            <a:pPr algn="ctr"/>
            <a:r>
              <a:rPr lang="en-US" dirty="0"/>
              <a:t>SNAPSHOTS</a:t>
            </a:r>
            <a:br>
              <a:rPr lang="en-US" dirty="0"/>
            </a:br>
            <a:r>
              <a:rPr lang="en-US" sz="2800" dirty="0"/>
              <a:t>Step 3:All Contours</a:t>
            </a:r>
            <a:endParaRPr lang="en-IN" dirty="0"/>
          </a:p>
        </p:txBody>
      </p:sp>
      <p:pic>
        <p:nvPicPr>
          <p:cNvPr id="5" name="Content Placeholder 4">
            <a:extLst>
              <a:ext uri="{FF2B5EF4-FFF2-40B4-BE49-F238E27FC236}">
                <a16:creationId xmlns:a16="http://schemas.microsoft.com/office/drawing/2014/main" id="{1A2DAF9C-65A7-4AE2-31A5-B7AB4BE78487}"/>
              </a:ext>
            </a:extLst>
          </p:cNvPr>
          <p:cNvPicPr>
            <a:picLocks noGrp="1" noChangeAspect="1"/>
          </p:cNvPicPr>
          <p:nvPr>
            <p:ph idx="1"/>
          </p:nvPr>
        </p:nvPicPr>
        <p:blipFill>
          <a:blip r:embed="rId2"/>
          <a:stretch>
            <a:fillRect/>
          </a:stretch>
        </p:blipFill>
        <p:spPr>
          <a:xfrm>
            <a:off x="609600" y="2048226"/>
            <a:ext cx="7416800" cy="3941709"/>
          </a:xfrm>
        </p:spPr>
      </p:pic>
      <p:sp>
        <p:nvSpPr>
          <p:cNvPr id="3" name="TextBox 2">
            <a:extLst>
              <a:ext uri="{FF2B5EF4-FFF2-40B4-BE49-F238E27FC236}">
                <a16:creationId xmlns:a16="http://schemas.microsoft.com/office/drawing/2014/main" id="{8E90DAA3-3190-AED0-F579-61820AF383BF}"/>
              </a:ext>
            </a:extLst>
          </p:cNvPr>
          <p:cNvSpPr txBox="1"/>
          <p:nvPr/>
        </p:nvSpPr>
        <p:spPr>
          <a:xfrm>
            <a:off x="121921" y="5940365"/>
            <a:ext cx="8710540" cy="923330"/>
          </a:xfrm>
          <a:prstGeom prst="rect">
            <a:avLst/>
          </a:prstGeom>
          <a:noFill/>
        </p:spPr>
        <p:txBody>
          <a:bodyPr wrap="square" rtlCol="0">
            <a:spAutoFit/>
          </a:bodyPr>
          <a:lstStyle/>
          <a:p>
            <a:r>
              <a:rPr lang="en-IN" dirty="0">
                <a:solidFill>
                  <a:srgbClr val="000000"/>
                </a:solidFill>
                <a:latin typeface="Times New Roman" panose="02020603050405020304" pitchFamily="18" charset="0"/>
                <a:ea typeface="Times New Roman" panose="02020603050405020304" pitchFamily="18" charset="0"/>
              </a:rPr>
              <a:t>      T</a:t>
            </a:r>
            <a:r>
              <a:rPr lang="en-IN" sz="1800" dirty="0">
                <a:solidFill>
                  <a:srgbClr val="000000"/>
                </a:solidFill>
                <a:effectLst/>
                <a:latin typeface="Times New Roman" panose="02020603050405020304" pitchFamily="18" charset="0"/>
                <a:ea typeface="Times New Roman" panose="02020603050405020304" pitchFamily="18" charset="0"/>
              </a:rPr>
              <a:t>his plot shows all the contours detected in the edge-detected image. Contours represent the boundaries of detected shapes, and this helps to identify potential areas where the license plate might be located. </a:t>
            </a:r>
            <a:endParaRPr lang="en-IN" dirty="0"/>
          </a:p>
        </p:txBody>
      </p:sp>
    </p:spTree>
    <p:extLst>
      <p:ext uri="{BB962C8B-B14F-4D97-AF65-F5344CB8AC3E}">
        <p14:creationId xmlns:p14="http://schemas.microsoft.com/office/powerpoint/2010/main" val="2484373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B344D-60C6-40CC-7C6E-AF5DB9E4ACDF}"/>
              </a:ext>
            </a:extLst>
          </p:cNvPr>
          <p:cNvSpPr>
            <a:spLocks noGrp="1"/>
          </p:cNvSpPr>
          <p:nvPr>
            <p:ph type="title"/>
          </p:nvPr>
        </p:nvSpPr>
        <p:spPr/>
        <p:txBody>
          <a:bodyPr/>
          <a:lstStyle/>
          <a:p>
            <a:pPr algn="ctr"/>
            <a:r>
              <a:rPr lang="en-US" dirty="0"/>
              <a:t>SNAPSHOTS</a:t>
            </a:r>
            <a:br>
              <a:rPr lang="en-US" dirty="0"/>
            </a:br>
            <a:r>
              <a:rPr lang="en-US" sz="2800" dirty="0"/>
              <a:t>Step 4:License plate Detection</a:t>
            </a:r>
            <a:endParaRPr lang="en-IN" dirty="0"/>
          </a:p>
        </p:txBody>
      </p:sp>
      <p:pic>
        <p:nvPicPr>
          <p:cNvPr id="5" name="Content Placeholder 4">
            <a:extLst>
              <a:ext uri="{FF2B5EF4-FFF2-40B4-BE49-F238E27FC236}">
                <a16:creationId xmlns:a16="http://schemas.microsoft.com/office/drawing/2014/main" id="{6B3431D2-705A-9326-2E4F-1AA85E66022E}"/>
              </a:ext>
            </a:extLst>
          </p:cNvPr>
          <p:cNvPicPr>
            <a:picLocks noGrp="1" noChangeAspect="1"/>
          </p:cNvPicPr>
          <p:nvPr>
            <p:ph idx="1"/>
          </p:nvPr>
        </p:nvPicPr>
        <p:blipFill>
          <a:blip r:embed="rId2"/>
          <a:stretch>
            <a:fillRect/>
          </a:stretch>
        </p:blipFill>
        <p:spPr>
          <a:xfrm>
            <a:off x="873760" y="2023277"/>
            <a:ext cx="7040880" cy="3950803"/>
          </a:xfrm>
        </p:spPr>
      </p:pic>
      <p:sp>
        <p:nvSpPr>
          <p:cNvPr id="3" name="TextBox 2">
            <a:extLst>
              <a:ext uri="{FF2B5EF4-FFF2-40B4-BE49-F238E27FC236}">
                <a16:creationId xmlns:a16="http://schemas.microsoft.com/office/drawing/2014/main" id="{CD7CF30B-2573-BE3C-829F-4DD4A53DB441}"/>
              </a:ext>
            </a:extLst>
          </p:cNvPr>
          <p:cNvSpPr txBox="1"/>
          <p:nvPr/>
        </p:nvSpPr>
        <p:spPr>
          <a:xfrm>
            <a:off x="284480" y="5913120"/>
            <a:ext cx="8859520" cy="1200329"/>
          </a:xfrm>
          <a:prstGeom prst="rect">
            <a:avLst/>
          </a:prstGeom>
          <a:noFill/>
        </p:spPr>
        <p:txBody>
          <a:bodyPr wrap="square" rtlCol="0">
            <a:spAutoFit/>
          </a:bodyPr>
          <a:lstStyle/>
          <a:p>
            <a:r>
              <a:rPr lang="en-IN" sz="1800" kern="100" dirty="0">
                <a:solidFill>
                  <a:srgbClr val="000000"/>
                </a:solidFill>
                <a:effectLst/>
                <a:latin typeface="Times New Roman" panose="02020603050405020304" pitchFamily="18" charset="0"/>
                <a:ea typeface="Times New Roman" panose="02020603050405020304" pitchFamily="18" charset="0"/>
              </a:rPr>
              <a:t>         After detecting and cropping the region containing the license plate, this plot displays the cropped area, which should ideally show just the license plate region. This helps in verifying that the license plate area has been correctly extracted before running OCR. </a:t>
            </a:r>
          </a:p>
          <a:p>
            <a:endParaRPr lang="en-IN" dirty="0"/>
          </a:p>
        </p:txBody>
      </p:sp>
    </p:spTree>
    <p:extLst>
      <p:ext uri="{BB962C8B-B14F-4D97-AF65-F5344CB8AC3E}">
        <p14:creationId xmlns:p14="http://schemas.microsoft.com/office/powerpoint/2010/main" val="4280527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Applications</a:t>
            </a:r>
          </a:p>
        </p:txBody>
      </p:sp>
      <p:sp>
        <p:nvSpPr>
          <p:cNvPr id="3" name="Content Placeholder 2"/>
          <p:cNvSpPr>
            <a:spLocks noGrp="1"/>
          </p:cNvSpPr>
          <p:nvPr>
            <p:ph idx="1"/>
          </p:nvPr>
        </p:nvSpPr>
        <p:spPr/>
        <p:txBody>
          <a:bodyPr/>
          <a:lstStyle/>
          <a:p>
            <a:r>
              <a:rPr dirty="0"/>
              <a:t>Traffic surveillance and law enforcement.</a:t>
            </a:r>
          </a:p>
          <a:p>
            <a:r>
              <a:rPr dirty="0"/>
              <a:t>Automated toll collection systems.</a:t>
            </a:r>
          </a:p>
          <a:p>
            <a:r>
              <a:rPr dirty="0"/>
              <a:t>Parking management systems.</a:t>
            </a:r>
          </a:p>
          <a:p>
            <a:r>
              <a:rPr dirty="0"/>
              <a:t>Vehicle entry/exit control in secured areas.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86360" y="2072712"/>
            <a:ext cx="8691880" cy="4480488"/>
          </a:xfrm>
        </p:spPr>
        <p:txBody>
          <a:bodyPr>
            <a:normAutofit fontScale="92500" lnSpcReduction="10000"/>
          </a:bodyPr>
          <a:lstStyle/>
          <a:p>
            <a:pPr marL="491490" marR="46355" indent="-285750" algn="just">
              <a:lnSpc>
                <a:spcPct val="150000"/>
              </a:lnSpc>
              <a:spcAft>
                <a:spcPts val="560"/>
              </a:spcAft>
            </a:pPr>
            <a:r>
              <a:rPr lang="en-IN" sz="1800" kern="100" dirty="0">
                <a:effectLst/>
                <a:latin typeface="Times New Roman" panose="02020603050405020304" pitchFamily="18" charset="0"/>
                <a:ea typeface="Times New Roman" panose="02020603050405020304" pitchFamily="18" charset="0"/>
              </a:rPr>
              <a:t> The license plate detector project successfully demonstrated the ability to detect and recognize license plates with a high degree of accuracy and efficiency. By employing advanced computer vision techniques, such as image preprocessing, object detection algorithms (e.g., YOLO, SSD), and Optical Character Recognition (OCR), the system achieved reliable performance under various conditions, including diverse lighting, angles, and plate designs. </a:t>
            </a:r>
          </a:p>
          <a:p>
            <a:pPr marL="491490" marR="46355" indent="-285750" algn="just">
              <a:lnSpc>
                <a:spcPct val="150000"/>
              </a:lnSpc>
              <a:spcAft>
                <a:spcPts val="560"/>
              </a:spcAft>
            </a:pPr>
            <a:r>
              <a:rPr lang="en-US" sz="1800" dirty="0">
                <a:effectLst/>
                <a:latin typeface="Times New Roman" panose="02020603050405020304" pitchFamily="18" charset="0"/>
                <a:ea typeface="Times New Roman" panose="02020603050405020304" pitchFamily="18" charset="0"/>
              </a:rPr>
              <a:t>This project can serve as a foundation for real-world applications such as traffic monitoring, toll collection, parking management, and law enforcement. However, there are opportunities for further improvement, such as enhancing performance in challenging weather conditions, accommodating non-standard license plate formats, and optimizing computational efficiency for real-time processing. </a:t>
            </a:r>
            <a:endParaRPr lang="en-US" sz="1800" dirty="0"/>
          </a:p>
          <a:p>
            <a:pPr marL="491490" marR="46355" indent="-285750" algn="just">
              <a:lnSpc>
                <a:spcPct val="150000"/>
              </a:lnSpc>
              <a:spcAft>
                <a:spcPts val="560"/>
              </a:spcAft>
            </a:pPr>
            <a:endParaRPr lang="en-IN" sz="1800" dirty="0">
              <a:solidFill>
                <a:srgbClr val="000000"/>
              </a:solidFill>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C54B7-64DE-BB1D-4858-8315794D4D00}"/>
              </a:ext>
            </a:extLst>
          </p:cNvPr>
          <p:cNvSpPr>
            <a:spLocks noGrp="1"/>
          </p:cNvSpPr>
          <p:nvPr>
            <p:ph type="title"/>
          </p:nvPr>
        </p:nvSpPr>
        <p:spPr>
          <a:xfrm>
            <a:off x="527089" y="610548"/>
            <a:ext cx="8911687" cy="1280890"/>
          </a:xfrm>
        </p:spPr>
        <p:txBody>
          <a:bodyPr/>
          <a:lstStyle/>
          <a:p>
            <a:r>
              <a:rPr lang="en-IN" dirty="0"/>
              <a:t>Reference</a:t>
            </a:r>
          </a:p>
        </p:txBody>
      </p:sp>
      <p:sp>
        <p:nvSpPr>
          <p:cNvPr id="4" name="TextBox 3">
            <a:extLst>
              <a:ext uri="{FF2B5EF4-FFF2-40B4-BE49-F238E27FC236}">
                <a16:creationId xmlns:a16="http://schemas.microsoft.com/office/drawing/2014/main" id="{3F3FEB1F-7238-FFD4-9233-A0AE0B6B3719}"/>
              </a:ext>
            </a:extLst>
          </p:cNvPr>
          <p:cNvSpPr txBox="1"/>
          <p:nvPr/>
        </p:nvSpPr>
        <p:spPr>
          <a:xfrm>
            <a:off x="303569" y="2125118"/>
            <a:ext cx="8911687" cy="4613186"/>
          </a:xfrm>
          <a:prstGeom prst="rect">
            <a:avLst/>
          </a:prstGeom>
          <a:noFill/>
        </p:spPr>
        <p:txBody>
          <a:bodyPr wrap="square">
            <a:spAutoFit/>
          </a:bodyPr>
          <a:lstStyle/>
          <a:p>
            <a:pPr marL="6350" marR="46355" indent="-6350" algn="l">
              <a:lnSpc>
                <a:spcPct val="107000"/>
              </a:lnSpc>
              <a:spcAft>
                <a:spcPts val="560"/>
              </a:spcAft>
            </a:pPr>
            <a:r>
              <a:rPr lang="en-US" sz="2000" b="1" spc="0" dirty="0">
                <a:effectLst/>
                <a:latin typeface="Times New Roman" panose="02020603050405020304" pitchFamily="18" charset="0"/>
                <a:ea typeface="Times New Roman" panose="02020603050405020304" pitchFamily="18" charset="0"/>
              </a:rPr>
              <a:t>1.  Authors:</a:t>
            </a:r>
            <a:r>
              <a:rPr lang="en-US" sz="2000" b="1" spc="-15" dirty="0">
                <a:effectLst/>
                <a:latin typeface="Times New Roman" panose="02020603050405020304" pitchFamily="18" charset="0"/>
                <a:ea typeface="Times New Roman" panose="02020603050405020304" pitchFamily="18" charset="0"/>
              </a:rPr>
              <a:t> </a:t>
            </a:r>
            <a:r>
              <a:rPr lang="en-IN" sz="2000" b="1" kern="100" dirty="0">
                <a:effectLst/>
                <a:latin typeface="Times New Roman" panose="02020603050405020304" pitchFamily="18" charset="0"/>
                <a:ea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rPr>
              <a:t>Kumar A, Sharma A. "A survey of recent advances in image      	     			steganography." Security and Privacy(2023).</a:t>
            </a:r>
          </a:p>
          <a:p>
            <a:pPr marL="6350" marR="46355" indent="-6350" algn="l">
              <a:lnSpc>
                <a:spcPct val="107000"/>
              </a:lnSpc>
              <a:spcAft>
                <a:spcPts val="560"/>
              </a:spcAft>
            </a:pPr>
            <a:r>
              <a:rPr lang="en-US" sz="2000" b="1" spc="0" dirty="0">
                <a:effectLst/>
                <a:latin typeface="Times New Roman" panose="02020603050405020304" pitchFamily="18" charset="0"/>
                <a:ea typeface="Times New Roman" panose="02020603050405020304" pitchFamily="18" charset="0"/>
              </a:rPr>
              <a:t>2.  Authors:</a:t>
            </a:r>
            <a:r>
              <a:rPr lang="en-US" sz="2000" b="1" spc="-15" dirty="0">
                <a:effectLst/>
                <a:latin typeface="Times New Roman" panose="02020603050405020304" pitchFamily="18" charset="0"/>
                <a:ea typeface="Times New Roman" panose="02020603050405020304" pitchFamily="18" charset="0"/>
              </a:rPr>
              <a:t> </a:t>
            </a:r>
            <a:r>
              <a:rPr lang="en-IN" sz="2000" dirty="0" err="1">
                <a:effectLst/>
                <a:latin typeface="Times New Roman" panose="02020603050405020304" pitchFamily="18" charset="0"/>
                <a:ea typeface="Times New Roman" panose="02020603050405020304" pitchFamily="18" charset="0"/>
              </a:rPr>
              <a:t>Idakwo</a:t>
            </a:r>
            <a:r>
              <a:rPr lang="en-IN" sz="2000" dirty="0">
                <a:effectLst/>
                <a:latin typeface="Times New Roman" panose="02020603050405020304" pitchFamily="18" charset="0"/>
                <a:ea typeface="Times New Roman" panose="02020603050405020304" pitchFamily="18" charset="0"/>
              </a:rPr>
              <a:t> MA, Muazu MB, </a:t>
            </a:r>
            <a:r>
              <a:rPr lang="en-IN" sz="2000" dirty="0" err="1">
                <a:effectLst/>
                <a:latin typeface="Times New Roman" panose="02020603050405020304" pitchFamily="18" charset="0"/>
                <a:ea typeface="Times New Roman" panose="02020603050405020304" pitchFamily="18" charset="0"/>
              </a:rPr>
              <a:t>Adedokun</a:t>
            </a:r>
            <a:r>
              <a:rPr lang="en-IN" sz="2000" dirty="0">
                <a:effectLst/>
                <a:latin typeface="Times New Roman" panose="02020603050405020304" pitchFamily="18" charset="0"/>
                <a:ea typeface="Times New Roman" panose="02020603050405020304" pitchFamily="18" charset="0"/>
              </a:rPr>
              <a:t> AE, Sadiq BO. "An Extensive 				Survey of Digital  Image Steganography.</a:t>
            </a:r>
          </a:p>
          <a:p>
            <a:pPr marL="6350" marR="46355" indent="-6350" algn="l">
              <a:lnSpc>
                <a:spcPct val="107000"/>
              </a:lnSpc>
              <a:spcAft>
                <a:spcPts val="560"/>
              </a:spcAft>
            </a:pPr>
            <a:r>
              <a:rPr lang="en-US" sz="2000" b="1" spc="0" dirty="0">
                <a:effectLst/>
                <a:latin typeface="Times New Roman" panose="02020603050405020304" pitchFamily="18" charset="0"/>
                <a:ea typeface="Times New Roman" panose="02020603050405020304" pitchFamily="18" charset="0"/>
              </a:rPr>
              <a:t>3.  Authors: </a:t>
            </a:r>
            <a:r>
              <a:rPr lang="en-IN" sz="2000" dirty="0" err="1">
                <a:effectLst/>
                <a:latin typeface="Times New Roman" panose="02020603050405020304" pitchFamily="18" charset="0"/>
                <a:ea typeface="Times New Roman" panose="02020603050405020304" pitchFamily="18" charset="0"/>
              </a:rPr>
              <a:t>Cheddad</a:t>
            </a:r>
            <a:r>
              <a:rPr lang="en-IN" sz="2000" dirty="0">
                <a:effectLst/>
                <a:latin typeface="Times New Roman" panose="02020603050405020304" pitchFamily="18" charset="0"/>
                <a:ea typeface="Times New Roman" panose="02020603050405020304" pitchFamily="18" charset="0"/>
              </a:rPr>
              <a:t> A, Condell J, Curran K, </a:t>
            </a:r>
            <a:r>
              <a:rPr lang="en-IN" sz="2000" dirty="0" err="1">
                <a:effectLst/>
                <a:latin typeface="Times New Roman" panose="02020603050405020304" pitchFamily="18" charset="0"/>
                <a:ea typeface="Times New Roman" panose="02020603050405020304" pitchFamily="18" charset="0"/>
              </a:rPr>
              <a:t>McKevitt</a:t>
            </a:r>
            <a:r>
              <a:rPr lang="en-IN" sz="2000" dirty="0">
                <a:effectLst/>
                <a:latin typeface="Times New Roman" panose="02020603050405020304" pitchFamily="18" charset="0"/>
                <a:ea typeface="Times New Roman" panose="02020603050405020304" pitchFamily="18" charset="0"/>
              </a:rPr>
              <a:t> P. "Digital image   					steganography: Survey and analysis of current methods." Signal 				Processing (2010).</a:t>
            </a:r>
          </a:p>
          <a:p>
            <a:pPr marL="6350" marR="46355" indent="-6350" algn="l">
              <a:lnSpc>
                <a:spcPct val="107000"/>
              </a:lnSpc>
              <a:spcAft>
                <a:spcPts val="560"/>
              </a:spcAft>
            </a:pPr>
            <a:r>
              <a:rPr lang="en-US" sz="2000" b="1" spc="0" dirty="0">
                <a:effectLst/>
                <a:latin typeface="Times New Roman" panose="02020603050405020304" pitchFamily="18" charset="0"/>
                <a:ea typeface="Times New Roman" panose="02020603050405020304" pitchFamily="18" charset="0"/>
              </a:rPr>
              <a:t>4.  Authors</a:t>
            </a:r>
            <a:r>
              <a:rPr lang="en-IN" sz="2000" b="1" dirty="0">
                <a:effectLst/>
                <a:latin typeface="Times New Roman" panose="02020603050405020304" pitchFamily="18" charset="0"/>
                <a:ea typeface="Times New Roman" panose="02020603050405020304" pitchFamily="18" charset="0"/>
              </a:rPr>
              <a:t>: </a:t>
            </a:r>
            <a:r>
              <a:rPr lang="en-IN" sz="2000" dirty="0" err="1">
                <a:effectLst/>
                <a:latin typeface="Times New Roman" panose="02020603050405020304" pitchFamily="18" charset="0"/>
                <a:ea typeface="Times New Roman" panose="02020603050405020304" pitchFamily="18" charset="0"/>
              </a:rPr>
              <a:t>Kadhim</a:t>
            </a:r>
            <a:r>
              <a:rPr lang="en-IN" sz="2000" dirty="0">
                <a:effectLst/>
                <a:latin typeface="Times New Roman" panose="02020603050405020304" pitchFamily="18" charset="0"/>
                <a:ea typeface="Times New Roman" panose="02020603050405020304" pitchFamily="18" charset="0"/>
              </a:rPr>
              <a:t> I, Premaratne P, Vial P, Halloran B. "Comprehensive survey of 			image  steganography: Techniques, Evaluations, and trends in future 			research." Neurocomputing(2019).</a:t>
            </a:r>
          </a:p>
          <a:p>
            <a:pPr marL="6350" marR="46355" indent="-6350" algn="l">
              <a:lnSpc>
                <a:spcPct val="107000"/>
              </a:lnSpc>
              <a:spcAft>
                <a:spcPts val="560"/>
              </a:spcAft>
            </a:pPr>
            <a:r>
              <a:rPr lang="en-US" sz="2000" b="1" spc="0" dirty="0">
                <a:effectLst/>
                <a:latin typeface="Times New Roman" panose="02020603050405020304" pitchFamily="18" charset="0"/>
                <a:ea typeface="Times New Roman" panose="02020603050405020304" pitchFamily="18" charset="0"/>
              </a:rPr>
              <a:t>5.  Authors</a:t>
            </a:r>
            <a:r>
              <a:rPr lang="en-IN" sz="2000" b="1" dirty="0">
                <a:effectLst/>
                <a:latin typeface="Times New Roman" panose="02020603050405020304" pitchFamily="18" charset="0"/>
                <a:ea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rPr>
              <a:t>Hussain M, Wahab AWA, Idris YI, Ho AB, Jung K, Khan S. "Image 			steganography in spatial domain: A survey." Signal Processing.</a:t>
            </a:r>
          </a:p>
          <a:p>
            <a:pPr marL="6350" marR="46355" indent="-6350" algn="l">
              <a:lnSpc>
                <a:spcPct val="107000"/>
              </a:lnSpc>
              <a:spcAft>
                <a:spcPts val="560"/>
              </a:spcAft>
            </a:pPr>
            <a:endParaRPr lang="en-IN" sz="1200" spc="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A51CCA-0C63-4454-79F7-42D5788CC058}"/>
              </a:ext>
            </a:extLst>
          </p:cNvPr>
          <p:cNvSpPr txBox="1"/>
          <p:nvPr/>
        </p:nvSpPr>
        <p:spPr>
          <a:xfrm>
            <a:off x="1609628" y="3252655"/>
            <a:ext cx="6671820" cy="1569660"/>
          </a:xfrm>
          <a:prstGeom prst="rect">
            <a:avLst/>
          </a:prstGeom>
          <a:noFill/>
        </p:spPr>
        <p:txBody>
          <a:bodyPr wrap="square">
            <a:spAutoFit/>
          </a:bodyPr>
          <a:lstStyle/>
          <a:p>
            <a:r>
              <a:rPr kumimoji="0" lang="en" sz="9600" b="0" i="0" u="none" strike="noStrike" kern="0" cap="none" spc="0" normalizeH="0" baseline="0" noProof="0" dirty="0">
                <a:ln>
                  <a:noFill/>
                </a:ln>
                <a:solidFill>
                  <a:srgbClr val="4A3C30"/>
                </a:solidFill>
                <a:effectLst/>
                <a:uLnTx/>
                <a:uFillTx/>
                <a:latin typeface="Times New Roman" pitchFamily="18" charset="0"/>
                <a:ea typeface="EB Garamond SemiBold"/>
                <a:cs typeface="Times New Roman" pitchFamily="18" charset="0"/>
                <a:sym typeface="EB Garamond SemiBold"/>
              </a:rPr>
              <a:t>Thank You!</a:t>
            </a:r>
            <a:endParaRPr lang="en-IN" sz="9600" dirty="0"/>
          </a:p>
        </p:txBody>
      </p:sp>
    </p:spTree>
    <p:extLst>
      <p:ext uri="{BB962C8B-B14F-4D97-AF65-F5344CB8AC3E}">
        <p14:creationId xmlns:p14="http://schemas.microsoft.com/office/powerpoint/2010/main" val="23090379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260</TotalTime>
  <Words>964</Words>
  <Application>Microsoft Office PowerPoint</Application>
  <PresentationFormat>On-screen Show (4:3)</PresentationFormat>
  <Paragraphs>85</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Times New Roman</vt:lpstr>
      <vt:lpstr>Trebuchet MS</vt:lpstr>
      <vt:lpstr>Wingdings</vt:lpstr>
      <vt:lpstr>Berlin</vt:lpstr>
      <vt:lpstr>PowerPoint Presentation</vt:lpstr>
      <vt:lpstr>PowerPoint Presentation</vt:lpstr>
      <vt:lpstr>Introduction</vt:lpstr>
      <vt:lpstr>Problem Statement</vt:lpstr>
      <vt:lpstr>PowerPoint Presentation</vt:lpstr>
      <vt:lpstr>System Architecture</vt:lpstr>
      <vt:lpstr>PowerPoint Presentation</vt:lpstr>
      <vt:lpstr>Methodology</vt:lpstr>
      <vt:lpstr>SNAPSHOTS Step 1:Original Image</vt:lpstr>
      <vt:lpstr>SNAPSHOTS Step 2:Edge Detection</vt:lpstr>
      <vt:lpstr>SNAPSHOTS Step 3:All Contours</vt:lpstr>
      <vt:lpstr>SNAPSHOTS Step 4:License plate Detection</vt:lpstr>
      <vt:lpstr>Applications</vt:lpstr>
      <vt:lpstr>Conclusion</vt:lpstr>
      <vt:lpstr>Reference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Dhanushree BJ</dc:creator>
  <cp:keywords/>
  <dc:description>generated using python-pptx</dc:description>
  <cp:lastModifiedBy>Dhanushree BJ</cp:lastModifiedBy>
  <cp:revision>8</cp:revision>
  <dcterms:created xsi:type="dcterms:W3CDTF">2013-01-27T09:14:16Z</dcterms:created>
  <dcterms:modified xsi:type="dcterms:W3CDTF">2026-02-26T04:31:59Z</dcterms:modified>
  <cp:category/>
</cp:coreProperties>
</file>